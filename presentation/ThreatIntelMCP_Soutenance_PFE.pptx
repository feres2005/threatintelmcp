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acf83e138b480d" /><Relationship Type="http://schemas.openxmlformats.org/officeDocument/2006/relationships/extended-properties" Target="/docProps/app.xml" Id="R1a6e4a26762249ac" /><Relationship Type="http://schemas.openxmlformats.org/officeDocument/2006/relationships/officeDocument" Target="/ppt/presentation.xml" Id="R8197c79e46d64f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7438cb77d40e2"/>
  </p:sldMasterIdLst>
  <p:notesMasterIdLst>
    <p:notesMasterId xmlns:r="http://schemas.openxmlformats.org/officeDocument/2006/relationships" r:id="Re9125f829896444c"/>
  </p:notesMasterIdLst>
  <p:sldIdLst>
    <p:sldId xmlns:r="http://schemas.openxmlformats.org/officeDocument/2006/relationships" id="256" r:id="R1b9097e9ba2d40b0"/>
    <p:sldId xmlns:r="http://schemas.openxmlformats.org/officeDocument/2006/relationships" id="257" r:id="R67ae9eb4dd904fd1"/>
    <p:sldId xmlns:r="http://schemas.openxmlformats.org/officeDocument/2006/relationships" id="258" r:id="Rce40dadb2da54acd"/>
    <p:sldId xmlns:r="http://schemas.openxmlformats.org/officeDocument/2006/relationships" id="259" r:id="R9442fa89e8a9470c"/>
    <p:sldId xmlns:r="http://schemas.openxmlformats.org/officeDocument/2006/relationships" id="260" r:id="R3413c4ef22bc4252"/>
    <p:sldId xmlns:r="http://schemas.openxmlformats.org/officeDocument/2006/relationships" id="261" r:id="Rc4cd17a6c8f84c61"/>
    <p:sldId xmlns:r="http://schemas.openxmlformats.org/officeDocument/2006/relationships" id="262" r:id="Re8fd3d32babf4a1c"/>
    <p:sldId xmlns:r="http://schemas.openxmlformats.org/officeDocument/2006/relationships" id="263" r:id="R054f3a3e7e22424c"/>
    <p:sldId xmlns:r="http://schemas.openxmlformats.org/officeDocument/2006/relationships" id="264" r:id="Rad5deb98869b4655"/>
    <p:sldId xmlns:r="http://schemas.openxmlformats.org/officeDocument/2006/relationships" id="265" r:id="Rf26ba81f4c694503"/>
    <p:sldId xmlns:r="http://schemas.openxmlformats.org/officeDocument/2006/relationships" id="266" r:id="Rdbc899e590f64696"/>
    <p:sldId xmlns:r="http://schemas.openxmlformats.org/officeDocument/2006/relationships" id="267" r:id="R80378a1a75444c68"/>
    <p:sldId xmlns:r="http://schemas.openxmlformats.org/officeDocument/2006/relationships" id="268" r:id="R0bf3273e340447a5"/>
    <p:sldId xmlns:r="http://schemas.openxmlformats.org/officeDocument/2006/relationships" id="269" r:id="R412f9141d94e4900"/>
    <p:sldId xmlns:r="http://schemas.openxmlformats.org/officeDocument/2006/relationships" id="270" r:id="Rf6493647918c4b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d022a276594d44" /><Relationship Type="http://schemas.openxmlformats.org/officeDocument/2006/relationships/slideMaster" Target="/ppt/slideMasters/slideMaster1.xml" Id="R5a67438cb77d40e2" /><Relationship Type="http://schemas.openxmlformats.org/officeDocument/2006/relationships/notesMaster" Target="/ppt/notesMasters/notesMaster1.xml" Id="Re9125f829896444c" /><Relationship Type="http://schemas.openxmlformats.org/officeDocument/2006/relationships/presProps" Target="/ppt/presProps.xml" Id="R564e88348a5a44ea" /><Relationship Type="http://schemas.openxmlformats.org/officeDocument/2006/relationships/tableStyles" Target="/ppt/tableStyles.xml" Id="R69598cf7e08740f5" /><Relationship Type="http://schemas.openxmlformats.org/officeDocument/2006/relationships/slide" Target="/ppt/slides/slide1.xml" Id="R1b9097e9ba2d40b0" /><Relationship Type="http://schemas.openxmlformats.org/officeDocument/2006/relationships/slide" Target="/ppt/slides/slide2.xml" Id="R67ae9eb4dd904fd1" /><Relationship Type="http://schemas.openxmlformats.org/officeDocument/2006/relationships/slide" Target="/ppt/slides/slide3.xml" Id="Rce40dadb2da54acd" /><Relationship Type="http://schemas.openxmlformats.org/officeDocument/2006/relationships/slide" Target="/ppt/slides/slide4.xml" Id="R9442fa89e8a9470c" /><Relationship Type="http://schemas.openxmlformats.org/officeDocument/2006/relationships/slide" Target="/ppt/slides/slide5.xml" Id="R3413c4ef22bc4252" /><Relationship Type="http://schemas.openxmlformats.org/officeDocument/2006/relationships/slide" Target="/ppt/slides/slide6.xml" Id="Rc4cd17a6c8f84c61" /><Relationship Type="http://schemas.openxmlformats.org/officeDocument/2006/relationships/slide" Target="/ppt/slides/slide7.xml" Id="Re8fd3d32babf4a1c" /><Relationship Type="http://schemas.openxmlformats.org/officeDocument/2006/relationships/slide" Target="/ppt/slides/slide8.xml" Id="R054f3a3e7e22424c" /><Relationship Type="http://schemas.openxmlformats.org/officeDocument/2006/relationships/slide" Target="/ppt/slides/slide9.xml" Id="Rad5deb98869b4655" /><Relationship Type="http://schemas.openxmlformats.org/officeDocument/2006/relationships/slide" Target="/ppt/slides/slide10.xml" Id="Rf26ba81f4c694503" /><Relationship Type="http://schemas.openxmlformats.org/officeDocument/2006/relationships/slide" Target="/ppt/slides/slide11.xml" Id="Rdbc899e590f64696" /><Relationship Type="http://schemas.openxmlformats.org/officeDocument/2006/relationships/slide" Target="/ppt/slides/slide12.xml" Id="R80378a1a75444c68" /><Relationship Type="http://schemas.openxmlformats.org/officeDocument/2006/relationships/slide" Target="/ppt/slides/slide13.xml" Id="R0bf3273e340447a5" /><Relationship Type="http://schemas.openxmlformats.org/officeDocument/2006/relationships/slide" Target="/ppt/slides/slide14.xml" Id="R412f9141d94e4900" /><Relationship Type="http://schemas.openxmlformats.org/officeDocument/2006/relationships/slide" Target="/ppt/slides/slide15.xml" Id="Rf6493647918c4b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330a801a4442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1a2f948704a25" /><Relationship Type="http://schemas.openxmlformats.org/officeDocument/2006/relationships/notesMaster" Target="/ppt/notesMasters/notesMaster1.xml" Id="Rb45667c6c48d47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f1ac7168274cd2" /><Relationship Type="http://schemas.openxmlformats.org/officeDocument/2006/relationships/notesMaster" Target="/ppt/notesMasters/notesMaster1.xml" Id="Rbe18b82d6f9c48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2285839f3e4e04" /><Relationship Type="http://schemas.openxmlformats.org/officeDocument/2006/relationships/notesMaster" Target="/ppt/notesMasters/notesMaster1.xml" Id="Rdeef7438ee7a4c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d9eaa5856548ae" /><Relationship Type="http://schemas.openxmlformats.org/officeDocument/2006/relationships/notesMaster" Target="/ppt/notesMasters/notesMaster1.xml" Id="R4eb4b494452e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04fd8e7e44436" /><Relationship Type="http://schemas.openxmlformats.org/officeDocument/2006/relationships/notesMaster" Target="/ppt/notesMasters/notesMaster1.xml" Id="R80273c06977643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ac94a8c48449ea" /><Relationship Type="http://schemas.openxmlformats.org/officeDocument/2006/relationships/notesMaster" Target="/ppt/notesMasters/notesMaster1.xml" Id="R8f30e220247742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7da213fc2b46a5" /><Relationship Type="http://schemas.openxmlformats.org/officeDocument/2006/relationships/notesMaster" Target="/ppt/notesMasters/notesMaster1.xml" Id="Refb646fad34e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09c4f37ad7404d" /><Relationship Type="http://schemas.openxmlformats.org/officeDocument/2006/relationships/notesMaster" Target="/ppt/notesMasters/notesMaster1.xml" Id="Raa5fce4a74c748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2877bd797f4234" /><Relationship Type="http://schemas.openxmlformats.org/officeDocument/2006/relationships/notesMaster" Target="/ppt/notesMasters/notesMaster1.xml" Id="R41368d6fcc2d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c52080508400e" /><Relationship Type="http://schemas.openxmlformats.org/officeDocument/2006/relationships/notesMaster" Target="/ppt/notesMasters/notesMaster1.xml" Id="R37182396c98143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0c866e7d3f4e49" /><Relationship Type="http://schemas.openxmlformats.org/officeDocument/2006/relationships/notesMaster" Target="/ppt/notesMasters/notesMaster1.xml" Id="R48cc9c3fe21546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fadda0433d4411" /><Relationship Type="http://schemas.openxmlformats.org/officeDocument/2006/relationships/notesMaster" Target="/ppt/notesMasters/notesMaster1.xml" Id="R0428ce940a4e4f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592c1221254ac0" /><Relationship Type="http://schemas.openxmlformats.org/officeDocument/2006/relationships/notesMaster" Target="/ppt/notesMasters/notesMaster1.xml" Id="R2e3d1a6ee41348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a6dd9c4e734e03" /><Relationship Type="http://schemas.openxmlformats.org/officeDocument/2006/relationships/notesMaster" Target="/ppt/notesMasters/notesMaster1.xml" Id="Re73c838d7e1749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fc8105b3294ea6" /><Relationship Type="http://schemas.openxmlformats.org/officeDocument/2006/relationships/notesMaster" Target="/ppt/notesMasters/notesMaster1.xml" Id="R5ad5f873c988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PFE specification: PFE SOC0226 - Développement d'un serveur MCP de Threat Intelligence, pp. 2–3.</a:t>
            </a:r>
          </a:p>
          <a:p xmlns:a="http://schemas.openxmlformats.org/drawingml/2006/main">
            <a:r>
              <a:t>- Project screenshot supplied by the author: 58f78235-e4bd-4dbb-818d-3fdc5c127e45.png.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PFE specification, sections Objectifs généraux and Objectifs spécifiques.</a:t>
            </a:r>
          </a:p>
          <a:p xmlns:a="http://schemas.openxmlformats.org/drawingml/2006/main">
            <a:r>
              <a:t>- /workspace/scratch/bcc8735e80f8/final_snapshot_20260824/docs/24_matrice_tracabilite_exigences_pfe.md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/workspace/scratch/bcc8735e80f8/final_snapshot_20260824/pipeline</a:t>
            </a:r>
          </a:p>
          <a:p xmlns:a="http://schemas.openxmlformats.org/drawingml/2006/main">
            <a:r>
              <a:t>- /workspace/scratch/bcc8735e80f8/final_snapshot_20260824/database</a:t>
            </a:r>
          </a:p>
          <a:p xmlns:a="http://schemas.openxmlformats.org/drawingml/2006/main">
            <a:r>
              <a:t>- /workspace/scratch/bcc8735e80f8/final_snapshot_20260824/semantic_search</a:t>
            </a:r>
          </a:p>
          <a:p xmlns:a="http://schemas.openxmlformats.org/drawingml/2006/main">
            <a:r>
              <a:t>- /workspace/scratch/bcc8735e80f8/final_snapshot_20260824/api</a:t>
            </a:r>
          </a:p>
          <a:p xmlns:a="http://schemas.openxmlformats.org/drawingml/2006/main">
            <a:r>
              <a:t>- /workspace/scratch/bcc8735e80f8/final_snapshot_20260824/mcp_server/server.py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/workspace/scratch/bcc8735e80f8/final_snapshot_20260824/collectors/rss_collector.py</a:t>
            </a:r>
          </a:p>
          <a:p xmlns:a="http://schemas.openxmlformats.org/drawingml/2006/main">
            <a:r>
              <a:t>- /workspace/scratch/bcc8735e80f8/final_snapshot_20260824/pipeline/ingestion_service.py</a:t>
            </a:r>
          </a:p>
          <a:p xmlns:a="http://schemas.openxmlformats.org/drawingml/2006/main">
            <a:r>
              <a:t>- /workspace/scratch/bcc8735e80f8/final_snapshot_20260824/ai/analyzer.py</a:t>
            </a:r>
          </a:p>
          <a:p xmlns:a="http://schemas.openxmlformats.org/drawingml/2006/main">
            <a:r>
              <a:t>- /workspace/scratch/bcc8735e80f8/final_snapshot_20260824/semantic_search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/workspace/scratch/bcc8735e80f8/final_snapshot_20260824/ai/analyzer.py</a:t>
            </a:r>
          </a:p>
          <a:p xmlns:a="http://schemas.openxmlformats.org/drawingml/2006/main">
            <a:r>
              <a:t>- /workspace/scratch/bcc8735e80f8/final_snapshot_20260824/ai/analysis_validation.py</a:t>
            </a:r>
          </a:p>
          <a:p xmlns:a="http://schemas.openxmlformats.org/drawingml/2006/main">
            <a:r>
              <a:t>- /workspace/scratch/bcc8735e80f8/final_snapshot_20260824/semantic_search</a:t>
            </a:r>
          </a:p>
          <a:p xmlns:a="http://schemas.openxmlformats.org/drawingml/2006/main">
            <a:r>
              <a:t>- /workspace/scratch/bcc8735e80f8/final_snapshot_20260824/topic_modeling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/workspace/scratch/bcc8735e80f8/final_snapshot_20260824/correlation</a:t>
            </a:r>
          </a:p>
          <a:p xmlns:a="http://schemas.openxmlformats.org/drawingml/2006/main">
            <a:r>
              <a:t>- /workspace/scratch/bcc8735e80f8/final_snapshot_20260824/enrichment</a:t>
            </a:r>
          </a:p>
          <a:p xmlns:a="http://schemas.openxmlformats.org/drawingml/2006/main">
            <a:r>
              <a:t>- /workspace/scratch/bcc8735e80f8/final_snapshot_20260824/database/cve_repository.py</a:t>
            </a:r>
          </a:p>
          <a:p xmlns:a="http://schemas.openxmlformats.org/drawingml/2006/main">
            <a:r>
              <a:t>- /workspace/scratch/bcc8735e80f8/final_snapshot_20260824/database/mitre_repository.py</a:t>
            </a:r>
          </a:p>
          <a:p xmlns:a="http://schemas.openxmlformats.org/drawingml/2006/main">
            <a:r>
              <a:t>- /workspace/scratch/bcc8735e80f8/final_snapshot_20260824/database/github_advisory_repository.py</a:t>
            </a:r>
          </a:p>
          <a:p xmlns:a="http://schemas.openxmlformats.org/drawingml/2006/main">
            <a:r>
              <a:t>- /workspace/scratch/bcc8735e80f8/final_snapshot_20260824/database/virustotal_repository.py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/workspace/scratch/bcc8735e80f8/final_snapshot_20260824/collectors/otx_collector.py</a:t>
            </a:r>
          </a:p>
          <a:p xmlns:a="http://schemas.openxmlformats.org/drawingml/2006/main">
            <a:r>
              <a:t>- /workspace/scratch/bcc8735e80f8/final_snapshot_20260824/collectors/virustotal_collector.py</a:t>
            </a:r>
          </a:p>
          <a:p xmlns:a="http://schemas.openxmlformats.org/drawingml/2006/main">
            <a:r>
              <a:t>- /workspace/scratch/bcc8735e80f8/final_snapshot_20260824/scoring/indicator_scoring_service.py</a:t>
            </a:r>
          </a:p>
          <a:p xmlns:a="http://schemas.openxmlformats.org/drawingml/2006/main">
            <a:r>
              <a:t>- /workspace/scratch/bcc8735e80f8/final_snapshot_20260824/correlation/indicator_correlation_service.py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/workspace/scratch/bcc8735e80f8/final_snapshot_20260824/api/routers</a:t>
            </a:r>
          </a:p>
          <a:p xmlns:a="http://schemas.openxmlformats.org/drawingml/2006/main">
            <a:r>
              <a:t>- /workspace/scratch/bcc8735e80f8/final_snapshot_20260824/mcp_server/server.py</a:t>
            </a:r>
          </a:p>
          <a:p xmlns:a="http://schemas.openxmlformats.org/drawingml/2006/main">
            <a:r>
              <a:t>- /workspace/scratch/bcc8735e80f8/final_snapshot_20260824/frontend/src</a:t>
            </a:r>
          </a:p>
          <a:p xmlns:a="http://schemas.openxmlformats.org/drawingml/2006/main">
            <a:r>
              <a:t>- /workspace/scratch/bcc8735e80f8/final_snapshot_20260824/docs/24_matrice_tracabilite_exigences_pfe.md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screenshots supplied by the author: 58f78235-e4bd-4dbb-818d-3fdc5c127e45.png and aefe668d-2dd6-4705-b9fa-765046c77ec7.png.</a:t>
            </a:r>
          </a:p>
          <a:p xmlns:a="http://schemas.openxmlformats.org/drawingml/2006/main">
            <a:r>
              <a:t>- /workspace/scratch/bcc8735e80f8/final_snapshot_20260824/frontend/src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Claude Desktop screenshot supplied by the author: 497aacfc-52be-4df3-a0ff-3d467ac35ac1.png.</a:t>
            </a:r>
          </a:p>
          <a:p xmlns:a="http://schemas.openxmlformats.org/drawingml/2006/main">
            <a:r>
              <a:t>- /workspace/scratch/bcc8735e80f8/final_snapshot_20260824/mcp_server/server.py</a:t>
            </a:r>
          </a:p>
          <a:p xmlns:a="http://schemas.openxmlformats.org/drawingml/2006/main">
            <a:r>
              <a:t>- /workspace/scratch/bcc8735e80f8/final_snapshot_20260824/tests/unit/test_mcp_server_confirmations.py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/workspace/scratch/bcc8735e80f8/final_snapshot_20260824/tests</a:t>
            </a:r>
          </a:p>
          <a:p xmlns:a="http://schemas.openxmlformats.org/drawingml/2006/main">
            <a:r>
              <a:t>- /workspace/scratch/bcc8735e80f8/final_snapshot_20260824/frontend/src (19 test files in the pre-VirusTotal validation snapshot).</a:t>
            </a:r>
          </a:p>
          <a:p xmlns:a="http://schemas.openxmlformats.org/drawingml/2006/main">
            <a:r>
              <a:t>- /workspace/scratch/bcc8735e80f8/final_snapshot_20260824/pytest.ini</a:t>
            </a:r>
          </a:p>
          <a:p xmlns:a="http://schemas.openxmlformats.org/drawingml/2006/main">
            <a:r>
              <a:t>- README pre-VirusTotal baseline: 1,030 Python tests + 56 frontend tests = 1,086.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/workspace/scratch/bcc8735e80f8/final_snapshot_20260824/docs/23_audit_configuration_securite.md</a:t>
            </a:r>
          </a:p>
          <a:p xmlns:a="http://schemas.openxmlformats.org/drawingml/2006/main">
            <a:r>
              <a:t>- /workspace/scratch/bcc8735e80f8/final_snapshot_20260824/.gitignore</a:t>
            </a:r>
          </a:p>
          <a:p xmlns:a="http://schemas.openxmlformats.org/drawingml/2006/main">
            <a:r>
              <a:t>- /workspace/scratch/bcc8735e80f8/final_snapshot_20260824/api/app.py</a:t>
            </a:r>
          </a:p>
          <a:p xmlns:a="http://schemas.openxmlformats.org/drawingml/2006/main">
            <a:r>
              <a:t>- /workspace/scratch/bcc8735e80f8/final_snapshot_20260824/mcp_server/server.py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Conserver la démonstration en lecture seule jusqu'à la dernière étape. Ne jamais relancer l'outil mutatif avec confirm=true pendant la soutenance.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/workspace/scratch/bcc8735e80f8/final_snapshot_20260824/docs/25_guide_demonstration_finale.md</a:t>
            </a:r>
          </a:p>
          <a:p xmlns:a="http://schemas.openxmlformats.org/drawingml/2006/main">
            <a:r>
              <a:t>- /workspace/scratch/bcc8735e80f8/final_snapshot_20260824/docs/26_liste_captures_finales.md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/workspace/scratch/bcc8735e80f8/final_snapshot_20260824/docs/24_matrice_tracabilite_exigences_pfe.md</a:t>
            </a:r>
          </a:p>
          <a:p xmlns:a="http://schemas.openxmlformats.org/drawingml/2006/main">
            <a:r>
              <a:t>- /workspace/scratch/bcc8735e80f8/final_snapshot_20260824/docs/23_audit_configuration_securite.md</a:t>
            </a:r>
          </a:p>
          <a:p xmlns:a="http://schemas.openxmlformats.org/drawingml/2006/main">
            <a:r>
              <a:t>- /workspace/scratch/bcc8735e80f8/final_snapshot_20260824/README.md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based on the audited final project snapshot and official PFE specification.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ce36d3a7c44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703d0ed684529" /><Relationship Type="http://schemas.openxmlformats.org/officeDocument/2006/relationships/slideLayout" Target="/ppt/slideLayouts/slideLayout1.xml" Id="Re3cb401887b44c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b401887b44c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d25b19ca64e44" /><Relationship Type="http://schemas.openxmlformats.org/officeDocument/2006/relationships/image" Target="/ppt/media/image.png" Id="Re4ed2ed9ca3544b6" /><Relationship Type="http://schemas.openxmlformats.org/officeDocument/2006/relationships/notesSlide" Target="/ppt/notesSlides/notesSlide1.xml" Id="Rea16b25378f040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47ee2e3b048f6" /><Relationship Type="http://schemas.openxmlformats.org/officeDocument/2006/relationships/notesSlide" Target="/ppt/notesSlides/notesSlide2.xml" Id="Rd306922f357841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b032111f84c17" /><Relationship Type="http://schemas.openxmlformats.org/officeDocument/2006/relationships/notesSlide" Target="/ppt/notesSlides/notesSlide3.xml" Id="Rb8f0d94c8cc748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d59b7e2cc4c10" /><Relationship Type="http://schemas.openxmlformats.org/officeDocument/2006/relationships/notesSlide" Target="/ppt/notesSlides/notesSlide4.xml" Id="R56c881dd840a48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cec86ecb2474e" /><Relationship Type="http://schemas.openxmlformats.org/officeDocument/2006/relationships/notesSlide" Target="/ppt/notesSlides/notesSlide5.xml" Id="Rd3d1b8c5237c4b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abb239f444372" /><Relationship Type="http://schemas.openxmlformats.org/officeDocument/2006/relationships/notesSlide" Target="/ppt/notesSlides/notesSlide6.xml" Id="R88ce15dcd2f64e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a769f8e9d430f" /><Relationship Type="http://schemas.openxmlformats.org/officeDocument/2006/relationships/notesSlide" Target="/ppt/notesSlides/notesSlide7.xml" Id="Rde6d027992a942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47ab16d7543ca" /><Relationship Type="http://schemas.openxmlformats.org/officeDocument/2006/relationships/notesSlide" Target="/ppt/notesSlides/notesSlide8.xml" Id="R2965624e04e243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bc795e6324970" /><Relationship Type="http://schemas.openxmlformats.org/officeDocument/2006/relationships/image" Target="/ppt/media/image2.png" Id="R38b36d5cb3134804" /><Relationship Type="http://schemas.openxmlformats.org/officeDocument/2006/relationships/image" Target="/ppt/media/image3.png" Id="Rec740ec36c774e36" /><Relationship Type="http://schemas.openxmlformats.org/officeDocument/2006/relationships/notesSlide" Target="/ppt/notesSlides/notesSlide9.xml" Id="Rd8a71979f84243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aa1e0c54e4226" /><Relationship Type="http://schemas.openxmlformats.org/officeDocument/2006/relationships/image" Target="/ppt/media/image4.png" Id="Rec801e393140455c" /><Relationship Type="http://schemas.openxmlformats.org/officeDocument/2006/relationships/notesSlide" Target="/ppt/notesSlides/notesSlide10.xml" Id="Ra9d9db249e6642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1b44bef4d4a79" /><Relationship Type="http://schemas.openxmlformats.org/officeDocument/2006/relationships/notesSlide" Target="/ppt/notesSlides/notesSlide11.xml" Id="Rb1cb4126a8bf46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4cdb110af4cb8" /><Relationship Type="http://schemas.openxmlformats.org/officeDocument/2006/relationships/notesSlide" Target="/ppt/notesSlides/notesSlide12.xml" Id="R8115f6f83f1943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6f7affbbc4bd1" /><Relationship Type="http://schemas.openxmlformats.org/officeDocument/2006/relationships/notesSlide" Target="/ppt/notesSlides/notesSlide13.xml" Id="R2c002c39f99c49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e62c811284b0d" /><Relationship Type="http://schemas.openxmlformats.org/officeDocument/2006/relationships/notesSlide" Target="/ppt/notesSlides/notesSlide14.xml" Id="R9571c26a7d464a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60156750040b2" /><Relationship Type="http://schemas.openxmlformats.org/officeDocument/2006/relationships/notesSlide" Target="/ppt/notesSlides/notesSlide15.xml" Id="Rf70fef4d657247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45120-8EF8-4B9F-B3A7-571A3CBE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PROJET DE FIN D'ÉTUDES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7B525-FA5B-452F-890A-829B57F4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7111F"/>
                </a:solidFill>
              </a:defRPr>
            </a:pPr>
            <a:r>
              <a:rPr sz="4350" b="1">
                <a:solidFill>
                  <a:srgbClr val="07111F"/>
                </a:solidFill>
              </a:rPr>
              <a:t>ThreatIntelMCP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6B5BF-1BED-4E6C-853D-6418671A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071"/>
                </a:solidFill>
              </a:defRPr>
            </a:pPr>
            <a:r>
              <a:rPr sz="2100">
                <a:solidFill>
                  <a:srgbClr val="526071"/>
                </a:solidFill>
              </a:rPr>
              <a:t>De l'OSINT brute à une intelligence SOC structurée, explicable et conversationnelle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57500-B56D-4E5F-B2CC-F63BDFDA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8B6"/>
                </a:solidFill>
              </a:defRPr>
            </a:pPr>
            <a:r>
              <a:rPr sz="1350" b="1">
                <a:solidFill>
                  <a:srgbClr val="0878B6"/>
                </a:solidFill>
              </a:rPr>
              <a:t>Serveur MCP · API REST · Interface analyste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4276B-3CA6-4DE3-827B-DB1F713F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B838E-DE25-453A-98DD-776DA07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Soutenance PFE ·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d2ed9ca3544b6"/>
          <a:srcRect xmlns:a="http://schemas.openxmlformats.org/drawingml/2006/main" l="21955" t="0" r="219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33400"/>
            <a:ext cx="5467350" cy="55816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555528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6083D-C4B9-4E99-939C-8F749E31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PROBLÈME ET OBJECTIFS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7C5A3-3B54-459F-9F47-3EEBCDCC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Le SOC a besoin de contexte exploitable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72AD7-1F68-468F-B014-584E96FB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DB34A-552D-443C-BAE8-8F16C283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5F745-3F72-4A09-8957-FBC30E8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7111F"/>
                </a:solidFill>
              </a:defRPr>
            </a:pPr>
            <a:r>
              <a:rPr sz="2100">
                <a:solidFill>
                  <a:srgbClr val="07111F"/>
                </a:solidFill>
              </a:rPr>
              <a:t>Les sources CTI sont fragmentées, hétérogènes et difficiles à interroger dans un flux analyste.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A00F7-D167-4353-ABDF-74C4E6A1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EEDBA-C27E-478D-A0C2-6881B4D7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Centraliser les flux OSINT, MITRE ATT&amp;CK, CVE, GitHub, OTX et VirusTotal.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258AC-CF09-4FCA-BAB2-2ABBA40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259C6-07F7-49F7-9B1D-CC6D1B9B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9080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Normaliser, extraire IOC/TTP et enrichir sans perdre la provenance.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4EA7E-A8F9-4EF7-8EF5-1B97F2A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5F19-6A78-44AE-992A-30031A66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4438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Restituer une réponse structurée via Web, REST et MCP conversationnel.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0C447-7E55-4CB0-A9A9-26D4DB89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8B6"/>
                </a:solidFill>
              </a:defRPr>
            </a:pPr>
            <a:r>
              <a:rPr sz="1800" b="1">
                <a:solidFill>
                  <a:srgbClr val="0878B6"/>
                </a:solidFill>
              </a:rPr>
              <a:t>Résultat attendu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41687-41AA-4354-A2BB-EE1282DF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Transformer une collection d'articles et d'indicateurs en une intelligence priorisée, corrélée et directement utilisable par un analyste SOC.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59EDA-DC00-49D9-B67E-184328FF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CFDD7-A775-49FE-B3CB-9FD91BC1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438160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34844-1AE7-4E04-B519-8D4B1370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79B15-6A61-4EF0-B1FB-6FEF3949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Une chaîne complète relie les sources aux décisions SOC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307F2-4BC7-4B64-999C-511CD944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769D0-0D4A-41F0-A42C-5DF9826B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31739-D0D1-4ED0-A660-752F387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7907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606CD-C299-4992-BA84-D09E0B26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7907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C15F0-7352-4988-BCF1-62151D8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17907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81295-7793-4229-916B-0FA53DEF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17907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C998A-3269-48FB-B8B5-22668158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17907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2410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8B6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4820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8B6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7230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8B6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9640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8B6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FBD00-12FC-4D42-831D-5ED6AFE6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8B6"/>
                </a:solidFill>
              </a:defRPr>
            </a:pPr>
            <a:r>
              <a:rPr sz="1725" b="1">
                <a:solidFill>
                  <a:srgbClr val="0878B6"/>
                </a:solidFill>
              </a:rPr>
              <a:t>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93608-6145-4B6C-AAE2-2E4FDB08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RSS, CTI, API externes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77748-0876-46C7-B284-DD9B624C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14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8B6"/>
                </a:solidFill>
              </a:defRPr>
            </a:pPr>
            <a:r>
              <a:rPr sz="1725" b="1">
                <a:solidFill>
                  <a:srgbClr val="0878B6"/>
                </a:solidFill>
              </a:rPr>
              <a:t>Ingestion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05D3B-356E-4B97-8477-605C58E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909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Déduplication et persistance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683AE-8CB3-4540-8ADC-62D2D491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8B6"/>
                </a:solidFill>
              </a:defRPr>
            </a:pPr>
            <a:r>
              <a:rPr sz="1725" b="1">
                <a:solidFill>
                  <a:srgbClr val="0878B6"/>
                </a:solidFill>
              </a:rPr>
              <a:t>Analyse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91191-0356-4551-B487-8268FE6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IOC, TTP, thèmes, vecteurs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23355-E833-4B60-B41A-03AD686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8B6"/>
                </a:solidFill>
              </a:defRPr>
            </a:pPr>
            <a:r>
              <a:rPr sz="1725" b="1">
                <a:solidFill>
                  <a:srgbClr val="0878B6"/>
                </a:solidFill>
              </a:rPr>
              <a:t>Corrélation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B3B59-D169-4B7E-90FA-AAB9313C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909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CVE, ATT&amp;CK, advisory, réputation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9C157-433C-4916-9CAA-3F55B2C1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146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8B6"/>
                </a:solidFill>
              </a:defRPr>
            </a:pPr>
            <a:r>
              <a:rPr sz="1725" b="1">
                <a:solidFill>
                  <a:srgbClr val="0878B6"/>
                </a:solidFill>
              </a:rPr>
              <a:t>Accès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97ABC-9D80-46F8-B1BD-4975FE53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909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Frontend, REST, 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DED9F-CA4B-411D-ADFC-146DC8EA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86300"/>
            <a:ext cx="868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PostgreSQL conserve les articles, analyses, enrichissements, embeddings et preuves corrélées.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7554B-023F-48FB-AF5C-C60203C5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D3798-1CCF-4C2E-82A6-297CC772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39984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950E5-BA09-493B-9A98-F3E8B5D0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COLLECTE ET ANALYSE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1B0FE-9BF7-43B3-A563-8BD76E85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La collecte est automatisée; l'analyse reste traçable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39704-5B5F-4CC7-8249-76DF94DF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696AE-E8AF-4C31-9994-9A23292D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62FAF-9F55-4198-9B92-331DC0E5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B6"/>
                </a:solidFill>
              </a:defRPr>
            </a:pPr>
            <a:r>
              <a:rPr sz="1875" b="1">
                <a:solidFill>
                  <a:srgbClr val="0878B6"/>
                </a:solidFill>
              </a:rPr>
              <a:t>Collecter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BB508-C47B-4C11-97A3-65A9C14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ECF83-FD2D-4EA7-8CCF-73D1A113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1"/>
                </a:solidFill>
              </a:defRPr>
            </a:pPr>
            <a:r>
              <a:rPr sz="1425">
                <a:solidFill>
                  <a:srgbClr val="526071"/>
                </a:solidFill>
              </a:rPr>
              <a:t>Flux RSS cyber, sources configurées et synchronisations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A098F-2933-4999-8DF3-CAA73C20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0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B6"/>
                </a:solidFill>
              </a:defRPr>
            </a:pPr>
            <a:r>
              <a:rPr sz="1875" b="1">
                <a:solidFill>
                  <a:srgbClr val="0878B6"/>
                </a:solidFill>
              </a:rPr>
              <a:t>Normaliser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160A7-CED4-4FC8-863E-C08E6F8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9F0B3-EF02-42A4-B208-65F08CF6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1"/>
                </a:solidFill>
              </a:defRPr>
            </a:pPr>
            <a:r>
              <a:rPr sz="1425">
                <a:solidFill>
                  <a:srgbClr val="526071"/>
                </a:solidFill>
              </a:rPr>
              <a:t>Dates, sources, URLs, objets structurés et validation des entrées.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23330-B5C7-4A3F-917C-B2458CF0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B6"/>
                </a:solidFill>
              </a:defRPr>
            </a:pPr>
            <a:r>
              <a:rPr sz="1875" b="1">
                <a:solidFill>
                  <a:srgbClr val="0878B6"/>
                </a:solidFill>
              </a:rPr>
              <a:t>Analyser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9B990-7171-4E0A-8CC1-1D55844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0A101-A9DC-4121-8754-E716347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1"/>
                </a:solidFill>
              </a:defRPr>
            </a:pPr>
            <a:r>
              <a:rPr sz="1425">
                <a:solidFill>
                  <a:srgbClr val="526071"/>
                </a:solidFill>
              </a:rPr>
              <a:t>Claude extrait résumé, sévérité, confiance, IOC, TTP et entités.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89CB0-291D-4AC2-945D-A6CA8224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B6"/>
                </a:solidFill>
              </a:defRPr>
            </a:pPr>
            <a:r>
              <a:rPr sz="1875" b="1">
                <a:solidFill>
                  <a:srgbClr val="0878B6"/>
                </a:solidFill>
              </a:rPr>
              <a:t>Indexer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741AE-F619-41F1-8D79-14A87007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ED4CC-8C4C-4E27-A9A2-5E3F206E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1"/>
                </a:solidFill>
              </a:defRPr>
            </a:pPr>
            <a:r>
              <a:rPr sz="1425">
                <a:solidFill>
                  <a:srgbClr val="526071"/>
                </a:solidFill>
              </a:rPr>
              <a:t>Embeddings locaux pour recherche sémantique et détection de thèmes.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C8874-3450-4DED-B65D-82895948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6E425-0761-4350-8510-4A045EB9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486780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B8206-74E8-45C3-B77C-28AE23BF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INTELLIGENCE ARTIFICIELLE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438E1-E6A2-43B5-9709-F015012E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L'IA augmente l'analyse; les règles gardent le contrôle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29A03-07F3-4F73-B449-002D8322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BC028-DEC7-4ABA-B820-9B9B5924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9ED44-FB78-499E-950B-A8D5A99C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7AF0F-F3B3-4D4E-B7F4-1DA72815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0003B-21CD-4F9D-BEB7-BAB009BE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</a:defRPr>
            </a:pPr>
            <a:r>
              <a:rPr sz="1275">
                <a:solidFill>
                  <a:srgbClr val="526071"/>
                </a:solidFill>
              </a:rPr>
              <a:t>IOC, CVE, malware, groupes APT, secteurs et technologies.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DD327-1DF2-41BD-A5E0-CEC418D2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1624E-1DF1-4BA3-80F7-BD1BD5DD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228E9-2CE0-4285-BD3B-5D0B7A36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90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</a:defRPr>
            </a:pPr>
            <a:r>
              <a:rPr sz="1275">
                <a:solidFill>
                  <a:srgbClr val="526071"/>
                </a:solidFill>
              </a:rPr>
              <a:t>Schémas, normalisation, correction et rejet des structures non sûres.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4135A-B3BA-46B3-ACFE-7C1F8FA5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0F3EE-7482-4D44-8116-5E49CFA0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Vectorisation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12A91-F161-4599-9929-1D1DC439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</a:defRPr>
            </a:pPr>
            <a:r>
              <a:rPr sz="1275">
                <a:solidFill>
                  <a:srgbClr val="526071"/>
                </a:solidFill>
              </a:rPr>
              <a:t>Embeddings locaux pour retrouver les articles par sens.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4B1B9-3F78-42E1-9FBB-445876B7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C22A9-D556-42AA-ABA2-97B7DD39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33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Détection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65DED-0678-4D42-B75D-74242C6B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71"/>
                </a:solidFill>
              </a:defRPr>
            </a:pPr>
            <a:r>
              <a:rPr sz="1275">
                <a:solidFill>
                  <a:srgbClr val="526071"/>
                </a:solidFill>
              </a:rPr>
              <a:t>Thèmes émergents, tendances et regroupement sémantique.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411C2-CCBE-4B5E-87A8-1A6BE9BF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Principe de conception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9C1D6-6CF1-45F4-AA56-75451956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11F"/>
                </a:solidFill>
              </a:defRPr>
            </a:pPr>
            <a:r>
              <a:rPr sz="2025" b="1">
                <a:solidFill>
                  <a:srgbClr val="07111F"/>
                </a:solidFill>
              </a:rPr>
              <a:t>Le modèle propose une structure; le backend valide, persiste et explique le résultat.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5D614-587A-4EEF-A522-BE0EBC4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D28FA-FCA4-4E77-95BB-2EEA360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645602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AC7B9-E552-4B66-BC58-280B7A53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ENRICHISSEMENT ET CORRÉLATION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64DDD-4A8C-4605-A11B-AD9E93F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Le contexte s'enrichit sans perdre sa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628C8-D69E-4A0D-92E8-07C19753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4A74F-02F6-4453-B22E-99D46CC9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317E2-2AFA-4265-A32E-9B1C1D1C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8B6"/>
                </a:solidFill>
              </a:defRPr>
            </a:pPr>
            <a:r>
              <a:rPr sz="1800" b="1">
                <a:solidFill>
                  <a:srgbClr val="0878B6"/>
                </a:solidFill>
              </a:rPr>
              <a:t>Contexte externe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3136-5848-4499-9E52-664FDF8C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9C91F-135F-4E4F-B7B9-21C6A7E3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NVD / CVE et références autoritatives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790E7-EAB3-4CBC-BC39-60CDCEFD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5C341-5986-4D5F-B01C-4521170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MITRE ATT&amp;CK et techniques associées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3C098-EB01-4A08-865A-43B499EA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756E8-03FE-418F-807C-51B12A0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GitHub Security Advisories et packages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431FD-BDE0-46C3-9D6E-1E5C860A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3301E-0DF8-4EBB-B4ED-B5782234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OTX et VirusTotal pour les indicateurs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ADF20-BBE5-41ED-9CC8-D0FDF693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8B6"/>
                </a:solidFill>
              </a:defRPr>
            </a:pPr>
            <a:r>
              <a:rPr sz="1800" b="1">
                <a:solidFill>
                  <a:srgbClr val="0878B6"/>
                </a:solidFill>
              </a:rPr>
              <a:t>Contexte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9017A-CB64-4E21-A8A5-A771B2D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E8885-42D4-4404-B965-756C25B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Articles où l'indicateur est observé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71D00-4762-416B-92D0-3A6736D8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21291-5940-447F-9011-105831ED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CVE, TTP, malware, APT et technologies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5A3EB-1A40-40AA-A10B-FD6555E4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1B4CA-1FFD-43CA-8F29-20B20E61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Sévérité et confiance de l'analyse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B7AA3-F30A-4B94-B9CE-39FF8A3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4CC6A-E8DB-4253-9D31-5DB0073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Score explicable et action recommandée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DB71E-A8AE-4639-8D7F-7CF1EA78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72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11F"/>
                </a:solidFill>
              </a:defRPr>
            </a:pPr>
            <a:r>
              <a:rPr sz="1875" b="1">
                <a:solidFill>
                  <a:srgbClr val="07111F"/>
                </a:solidFill>
              </a:rPr>
              <a:t>La corrélation sépare clairement preuve locale, enrichissement externe et inférence.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392E5-4CC2-4F40-B2C6-08588B1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49DAA-0440-45A5-B565-BED4DEC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275975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44AD9-92A4-4C78-A211-4432B186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INVESTIGATION D'INDICATEUR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55991-B2F5-46BA-9C98-B516E2B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L'intelligence externe précède la preuve locale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83EEA-7118-460D-BEF2-5E12B24C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1E02A-2E7D-47E5-882B-013B5537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3B334-8853-4C76-BE74-6812957F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8B6"/>
                </a:solidFill>
              </a:defRPr>
            </a:pPr>
            <a:r>
              <a:rPr sz="1875" b="1">
                <a:solidFill>
                  <a:srgbClr val="0878B6"/>
                </a:solidFill>
              </a:rPr>
              <a:t>Sources principales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20B4D-6D36-4BF0-9DB7-05A9CF5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11F"/>
                </a:solidFill>
              </a:defRPr>
            </a:pPr>
            <a:r>
              <a:rPr sz="3150" b="1">
                <a:solidFill>
                  <a:srgbClr val="07111F"/>
                </a:solidFill>
              </a:rPr>
              <a:t>OTX + VirusTotal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C5540-77CA-4975-BCF9-7DD79DED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</a:defRPr>
            </a:pPr>
            <a:r>
              <a:rPr sz="1500">
                <a:solidFill>
                  <a:srgbClr val="526071"/>
                </a:solidFill>
              </a:rPr>
              <a:t>Réputation, pulses, détections moteurs, analyse et fraîcheur du rapport.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89D22-0E79-411C-8DB3-8C8897B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BECEC-5161-4E4A-8B2B-D5FF689E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A875"/>
                </a:solidFill>
              </a:defRPr>
            </a:pPr>
            <a:r>
              <a:rPr sz="1500" b="1">
                <a:solidFill>
                  <a:srgbClr val="13A875"/>
                </a:solidFill>
              </a:rPr>
              <a:t>Preuve complémentaire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93407-455D-43D8-AFA6-C0C730B0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1"/>
                </a:solidFill>
              </a:defRPr>
            </a:pPr>
            <a:r>
              <a:rPr sz="1425">
                <a:solidFill>
                  <a:srgbClr val="526071"/>
                </a:solidFill>
              </a:rPr>
              <a:t>Mentions dans les articles, TTP et technologies associées.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2FB4B-FF7B-4648-8B82-98C5DA6E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143500" cy="35814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E4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34E1B-567B-4196-8D7D-4733097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Sortie analyste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A65EA-5BF0-47EB-B747-6F3E3980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</a:defRPr>
            </a:pPr>
            <a:r>
              <a:rPr sz="1350">
                <a:solidFill>
                  <a:srgbClr val="526071"/>
                </a:solidFill>
              </a:rPr>
              <a:t>Score de menace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2E02D-5E55-49F1-95E8-C3C4DAF1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0–100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96D6F-0441-43D5-B2EB-A3E67C54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</a:defRPr>
            </a:pPr>
            <a:r>
              <a:rPr sz="1350">
                <a:solidFill>
                  <a:srgbClr val="526071"/>
                </a:solidFill>
              </a:rPr>
              <a:t>Confiance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CABDF-602D-4182-B640-B16FC5E6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433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0–100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99316-6DF5-4CD9-A3FC-18A3A0C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Priorité + action recommandée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7018A-6733-43DE-ABF3-8404D11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CC7EE-1562-4B14-B313-1F031E9E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817451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6A965-C886-49E6-A528-CD2CFD39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REST · FRONTEND ·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7F0C1-28A4-47B3-98A0-D2651A40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Une même intelligence, trois expériences d'accès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7D981-8E84-411E-8605-16F3988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0C10-92FB-40BB-A32A-366C6028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9C39C-D0E9-4920-979C-7069E3BB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071"/>
                </a:solidFill>
              </a:defRPr>
            </a:pPr>
            <a:r>
              <a:rPr sz="1800">
                <a:solidFill>
                  <a:srgbClr val="526071"/>
                </a:solidFill>
              </a:rPr>
              <a:t>Les trois canaux réutilisent les mêmes services et dépôts PostgreSQL.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FFD89-55FF-4A7B-B491-22EF244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6FCD-3382-473E-9E3B-93305F7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8B6"/>
                </a:solidFill>
              </a:defRPr>
            </a:pPr>
            <a:r>
              <a:rPr sz="4200" b="1">
                <a:solidFill>
                  <a:srgbClr val="0878B6"/>
                </a:solidFill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39DD0-3534-436D-A174-E88C36DE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Opérations 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D3CEA-3FF2-48F4-96B5-AB02B4CA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Swagger/OpenAPI, validation Pydantic et JSON structuré.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83EEC-D38F-428F-B60D-90D9BA52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CD0E1-00F2-41FC-A172-F212565E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337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3A875"/>
                </a:solidFill>
              </a:defRPr>
            </a:pPr>
            <a:r>
              <a:rPr sz="4200" b="1">
                <a:solidFill>
                  <a:srgbClr val="13A875"/>
                </a:solidFill>
              </a:rPr>
              <a:t>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F8FF9-2D21-429D-A6E5-247FB9E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05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Outils MCP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D621C-5EFE-489B-81EC-D2348EC6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006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Recherche, corrélation, scoring et opérations protégées.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858F1-5CC7-443E-9B28-87944BF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A5710-1BD7-4893-9523-F7BD4D13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28A00"/>
                </a:solidFill>
              </a:defRPr>
            </a:pPr>
            <a:r>
              <a:rPr sz="4200" b="1">
                <a:solidFill>
                  <a:srgbClr val="D28A00"/>
                </a:solidFill>
              </a:rPr>
              <a:t>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EE7AB-0920-4C97-B982-020196F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Console analyste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DFC85-D987-4C10-A886-5A41D84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71"/>
                </a:solidFill>
              </a:defRPr>
            </a:pPr>
            <a:r>
              <a:rPr sz="1200">
                <a:solidFill>
                  <a:srgbClr val="526071"/>
                </a:solidFill>
              </a:rPr>
              <a:t>Navigation, recherche, investigation et visualisation.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7CC24-4EB0-4D63-9EC3-982608F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E25F-B0B0-49E0-B7BF-5F327E31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913915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D2DFA-A20E-4892-8CAD-1666372C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INTERFACE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6FC6D-B2DB-4415-B95F-70CA4F1A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Le frontend transforme les données en parcours analyste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D6467-91E7-4A7F-ADE7-379B3A99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E2C65-5E9B-43AB-BD09-F992E68B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36d5cb3134804"/>
          <a:srcRect xmlns:a="http://schemas.openxmlformats.org/drawingml/2006/main" l="9035" t="0" r="90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14500"/>
            <a:ext cx="53149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40ec36c774e36"/>
          <a:srcRect xmlns:a="http://schemas.openxmlformats.org/drawingml/2006/main" l="3729" t="0" r="37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714500"/>
            <a:ext cx="53149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B2462-7C48-4905-857B-A3915F3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Vue opérationnelle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C8EA2-DE4E-4A18-BBF4-B9CDD6C1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38800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Recherche par similarité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D624D-3853-42A0-B77E-1430D327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3C8F2-04A7-4D3E-BB00-ECE134E8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90516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2824B-BFAC-4D9B-928D-B932561C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AGENT CONVERSATIONNEL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E00BD-7982-469A-A1C3-7D9AF06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MCP guide l'investigation en langage naturel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62B38-441B-4D99-AEFC-F94197C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746FD-45D8-4ED5-A640-904C87E5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A4D41-CD26-4C14-AEE3-B0DE42AF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7111F"/>
                </a:solidFill>
              </a:defRPr>
            </a:pPr>
            <a:r>
              <a:rPr sz="1875">
                <a:solidFill>
                  <a:srgbClr val="07111F"/>
                </a:solidFill>
              </a:rPr>
              <a:t>L'analyste formule l'objectif; Claude orchestre des outils locaux et synthétise les preuves.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C826A-8C89-4ED9-82D8-BED06E44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D2D17-D2A3-45C4-B997-77FFE0B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Outils de lecture sans confirmation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E8DC5-6F51-4060-8537-E462F634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F0975-4E78-4FCC-851C-C65BB075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Séparation des sources et des inférences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81FC0-E53C-454A-8C14-ED9866C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3D7DB-50C8-4BA7-A042-00EF6B9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43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Confirmation explicite avant toute mutation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01e393140455c"/>
          <a:stretch xmlns:a="http://schemas.openxmlformats.org/drawingml/2006/main"/>
        </p:blipFill>
        <p:spPr>
          <a:xfrm xmlns:a="http://schemas.openxmlformats.org/drawingml/2006/main">
            <a:off x="6294458" y="1714500"/>
            <a:ext cx="4975184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CCC77-AFA7-4C15-8470-CF926C4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81AD8-F877-428C-A229-C4D191AD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98530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892BC-4E0E-43A5-A343-842D8FBD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TESTS ET RÉSILIENCE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1AA11-8A7A-4AD1-964D-1FB30DA1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La validation couvre la logique, les frontières et la reprise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D2355-F113-4B26-9568-6B185C19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9DF81-0E55-499D-9EA2-56B12F92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72CEF-B0A2-4DCA-A337-531CACF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878B6"/>
                </a:solidFill>
              </a:defRPr>
            </a:pPr>
            <a:r>
              <a:rPr sz="5100" b="1">
                <a:solidFill>
                  <a:srgbClr val="0878B6"/>
                </a:solidFill>
              </a:rPr>
              <a:t>&gt; 1 000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2CDD-DD8F-4C0B-B218-6CE139B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tests automatisés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4807-F6EC-4F6E-A395-F8E5017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</a:defRPr>
            </a:pPr>
            <a:r>
              <a:rPr sz="1350">
                <a:solidFill>
                  <a:srgbClr val="526071"/>
                </a:solidFill>
              </a:rPr>
              <a:t>Le total exact doit être figé après la collecte finale post‑VirusTotal.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8C13F-B03F-4D63-993E-9CFA935F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A875"/>
                </a:solidFill>
              </a:defRPr>
            </a:pPr>
            <a:r>
              <a:rPr sz="1725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336E8-032C-4AAE-B422-FC372CE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11F"/>
                </a:solidFill>
              </a:defRPr>
            </a:pPr>
            <a:r>
              <a:rPr sz="1575">
                <a:solidFill>
                  <a:srgbClr val="07111F"/>
                </a:solidFill>
              </a:rPr>
              <a:t>Tests unitaires backend et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E0AD2-979C-4F5F-AADC-00C6EB6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62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A875"/>
                </a:solidFill>
              </a:defRPr>
            </a:pPr>
            <a:r>
              <a:rPr sz="1725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46951-2069-4D26-9207-80213840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62225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11F"/>
                </a:solidFill>
              </a:defRPr>
            </a:pPr>
            <a:r>
              <a:rPr sz="1575">
                <a:solidFill>
                  <a:srgbClr val="07111F"/>
                </a:solidFill>
              </a:rPr>
              <a:t>Tests d'intégration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64BD6-023A-4B9C-91DC-F460A2AA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71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A875"/>
                </a:solidFill>
              </a:defRPr>
            </a:pPr>
            <a:r>
              <a:rPr sz="1725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DA4BC-8811-4DA4-8291-3B0B084F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11F"/>
                </a:solidFill>
              </a:defRPr>
            </a:pPr>
            <a:r>
              <a:rPr sz="1575">
                <a:solidFill>
                  <a:srgbClr val="07111F"/>
                </a:solidFill>
              </a:rPr>
              <a:t>Validation API, MCP et cohérence intercanal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E7804-3B22-4330-962D-0DBE1427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A875"/>
                </a:solidFill>
              </a:defRPr>
            </a:pPr>
            <a:r>
              <a:rPr sz="1725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B542A-AF5D-4CAB-8F15-669A485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81425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11F"/>
                </a:solidFill>
              </a:defRPr>
            </a:pPr>
            <a:r>
              <a:rPr sz="1575">
                <a:solidFill>
                  <a:srgbClr val="07111F"/>
                </a:solidFill>
              </a:rPr>
              <a:t>Pannes externes isolées et reprise du pool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CEC8B-A11C-4243-B393-6080F195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910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A875"/>
                </a:solidFill>
              </a:defRPr>
            </a:pPr>
            <a:r>
              <a:rPr sz="1725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2C7B8-C78B-47A1-9E8C-7456510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91025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7111F"/>
                </a:solidFill>
              </a:defRPr>
            </a:pPr>
            <a:r>
              <a:rPr sz="1575">
                <a:solidFill>
                  <a:srgbClr val="07111F"/>
                </a:solidFill>
              </a:rPr>
              <a:t>Lint et build de production 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05FFC-1D7B-42CC-A7DE-B11E6483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28767-BC9B-482C-B4C8-274EC7F2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71443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42DDC-BFB6-4090-B953-4750B542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SÉCURITÉ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762A4-7411-4594-B250-CD52B430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Le périmètre PFE est local, contrôlé et explicite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AA5C5-1416-4BF0-A8A5-3E3AE303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AA68F-142B-4512-A0C8-488CDF81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CDC4A-DC99-4E02-B590-E1805B0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8B6"/>
                </a:solidFill>
              </a:defRPr>
            </a:pPr>
            <a:r>
              <a:rPr sz="1800" b="1">
                <a:solidFill>
                  <a:srgbClr val="0878B6"/>
                </a:solidFill>
              </a:rPr>
              <a:t>Frontière actuelle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87758-D76C-4741-B3BC-B16542E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3C759-54E8-47B0-B554-B4965F2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API liée à 127.0.0.1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F85FD-5A86-4451-A557-9686782A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4921F-B0B9-4F21-9DB4-1853597A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MCP en stdio via Claude 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2BA3-8E23-4EEA-9E8D-C692AFEA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73A32-DAC3-4017-B800-E236378B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Secrets exclus de 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7E75A-3A22-4016-9E4B-2A1869A3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F178A-8A81-4E47-92BB-C199B690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Validation des entrées et erreurs contrôlées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7F5BF-6B29-4303-84D2-2835C958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B6"/>
                </a:solidFill>
              </a:defRPr>
            </a:pPr>
            <a:r>
              <a:rPr sz="1650" b="1">
                <a:solidFill>
                  <a:srgbClr val="0878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6EE98-7320-4533-A058-FC53C4A3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Confirmation pour les outils MCP mutatifs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AB448-452C-408A-BF2C-939BCBD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A875"/>
                </a:solidFill>
              </a:defRPr>
            </a:pPr>
            <a:r>
              <a:rPr sz="1800" b="1">
                <a:solidFill>
                  <a:srgbClr val="13A875"/>
                </a:solidFill>
              </a:rPr>
              <a:t>Choix assumé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1F7F2-48C8-44CE-8679-5CB65743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Ce n'est pas un déploiement multi-utilisateur exposé sur Internet.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E9194-E9AD-4FDA-9125-AAFD80B3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</a:defRPr>
            </a:pPr>
            <a:r>
              <a:rPr sz="1500">
                <a:solidFill>
                  <a:srgbClr val="526071"/>
                </a:solidFill>
              </a:rPr>
              <a:t>Authentification, autorisation, TLS, quotas et sandboxing renforcé sont documentés comme durcissement post‑PFE.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9CA9F-AA4A-45D8-8F04-98EFE9D9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44D4D-5D67-486A-A77A-CE25C74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6995308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BD5BD-B0B3-4A0B-8AD1-9C5760CB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SCÉNARIO DE 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6766-3921-4DBA-873B-246D776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Une démonstration contrôlée prouve toute la chaîne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259FA-5502-4D24-A3A6-7FEE058E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A3150-D579-42AA-8D27-456A8E3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F52AA-7F30-4225-8B17-7AD9C0B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8B6"/>
                </a:solidFill>
              </a:defRPr>
            </a:pPr>
            <a:r>
              <a:rPr sz="1425" b="1">
                <a:solidFill>
                  <a:srgbClr val="0878B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CAD8C-7B4C-494C-BB39-10BD1A79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A86F3-4FA8-4186-AF6C-04DBA4C5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</a:defRPr>
            </a:pPr>
            <a:r>
              <a:rPr sz="1500">
                <a:solidFill>
                  <a:srgbClr val="526071"/>
                </a:solidFill>
              </a:rPr>
              <a:t>Investigation de 158.220.87.79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6B15B-DC63-41C6-BB1F-61888E23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34517-FCC4-4767-A9BD-79639E9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8B6"/>
                </a:solidFill>
              </a:defRPr>
            </a:pPr>
            <a:r>
              <a:rPr sz="1425" b="1">
                <a:solidFill>
                  <a:srgbClr val="0878B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AE782-F123-40EB-A620-E2EE0DA9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DFB3F-C2FA-457F-AF07-D79C712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</a:defRPr>
            </a:pPr>
            <a:r>
              <a:rPr sz="1500">
                <a:solidFill>
                  <a:srgbClr val="526071"/>
                </a:solidFill>
              </a:rPr>
              <a:t>Même indicateur dans Swagger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70599-17FC-4CD6-BB51-14BB7A4E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B1030-6D7F-4B52-8FCD-BCC2C0B3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8B6"/>
                </a:solidFill>
              </a:defRPr>
            </a:pPr>
            <a:r>
              <a:rPr sz="1425" b="1">
                <a:solidFill>
                  <a:srgbClr val="0878B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603BE-5DC3-4E13-9CEE-1BED7DE1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41708-A9A9-4D18-9D80-46DD932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</a:defRPr>
            </a:pPr>
            <a:r>
              <a:rPr sz="1500">
                <a:solidFill>
                  <a:srgbClr val="526071"/>
                </a:solidFill>
              </a:rPr>
              <a:t>Synthèse conversationnelle Claude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B55D1-1D4C-481D-BAF2-3BB2BA5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9B247-9517-44FB-B244-F5A7EC3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8B6"/>
                </a:solidFill>
              </a:defRPr>
            </a:pPr>
            <a:r>
              <a:rPr sz="1425" b="1">
                <a:solidFill>
                  <a:srgbClr val="0878B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6C3E3-4446-4CD8-BCB2-F0CFB20E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Corrélation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B76B7-0779-4888-9449-BD2BBF5A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</a:defRPr>
            </a:pPr>
            <a:r>
              <a:rPr sz="1500">
                <a:solidFill>
                  <a:srgbClr val="526071"/>
                </a:solidFill>
              </a:rPr>
              <a:t>OTX, preuve locale, score explicable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996F8-AEC9-4A14-BF94-2D301C1A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CCE98-1291-4D5C-9DD2-B04210D2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8B6"/>
                </a:solidFill>
              </a:defRPr>
            </a:pPr>
            <a:r>
              <a:rPr sz="1425" b="1">
                <a:solidFill>
                  <a:srgbClr val="0878B6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58A77-F4B5-4921-872C-D8558508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62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Protection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F6198-1417-40B2-B956-21F7D0BE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6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71"/>
                </a:solidFill>
              </a:defRPr>
            </a:pPr>
            <a:r>
              <a:rPr sz="1500">
                <a:solidFill>
                  <a:srgbClr val="526071"/>
                </a:solidFill>
              </a:rPr>
              <a:t>Outil mutatif avec confirm=false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C5083-52FE-4B68-91DA-A13354A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27215-4FA7-43B7-AF17-6EEF5A39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2913113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CC6EA-A2A7-46A3-ADE1-645E295C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LIMITES ET PERSPECTIVES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AD7D3-EF6D-48FC-8916-DBCA9337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7111F"/>
                </a:solidFill>
              </a:defRPr>
            </a:pPr>
            <a:r>
              <a:rPr sz="2925" b="1">
                <a:solidFill>
                  <a:srgbClr val="07111F"/>
                </a:solidFill>
              </a:rPr>
              <a:t>Le socle PFE est complet; l'industrialisation reste ouverte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62232-273C-453D-9805-FB52C91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071"/>
                </a:solidFill>
              </a:defRPr>
            </a:pPr>
            <a:r>
              <a:rPr sz="1050">
                <a:solidFill>
                  <a:srgbClr val="526071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F1555-A719-43C6-B0F3-ADEEC42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13EF2-76FA-4723-BDB1-0963A0FD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28A00"/>
                </a:solidFill>
              </a:defRPr>
            </a:pPr>
            <a:r>
              <a:rPr sz="1875" b="1">
                <a:solidFill>
                  <a:srgbClr val="D28A00"/>
                </a:solidFill>
              </a:rPr>
              <a:t>Limites actuelles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180AF-BBD1-4CD8-8F03-9F9FEBE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28A00"/>
                </a:solidFill>
              </a:defRPr>
            </a:pPr>
            <a:r>
              <a:rPr sz="1650" b="1">
                <a:solidFill>
                  <a:srgbClr val="D28A00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C422F-42BD-4F09-91DE-B217EEED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Modèle de sécurité local uniquement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FB0E8-2682-47FA-8449-5171AE6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28A00"/>
                </a:solidFill>
              </a:defRPr>
            </a:pPr>
            <a:r>
              <a:rPr sz="1650" b="1">
                <a:solidFill>
                  <a:srgbClr val="D28A0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46612-ABAE-4048-A2FC-C297B73C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Absence de seuil de couverture configuré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2D335-FE8F-4267-94DC-EA2D3A1D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28A00"/>
                </a:solidFill>
              </a:defRPr>
            </a:pPr>
            <a:r>
              <a:rPr sz="1650" b="1">
                <a:solidFill>
                  <a:srgbClr val="D28A0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77CA1-F58C-4206-80DA-79EA7A9A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Dépendance à des API et quotas externes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F3D9A-9A2C-4069-9867-F2461E8D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28A00"/>
                </a:solidFill>
              </a:defRPr>
            </a:pPr>
            <a:r>
              <a:rPr sz="1650" b="1">
                <a:solidFill>
                  <a:srgbClr val="D28A0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2EA68-A7A1-4A41-BA90-250454C0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Synchronisations intelligence encore manuelles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F2E51-B57D-4DD7-A91A-99DE9F25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A875"/>
                </a:solidFill>
              </a:defRPr>
            </a:pPr>
            <a:r>
              <a:rPr sz="1875" b="1">
                <a:solidFill>
                  <a:srgbClr val="13A875"/>
                </a:solidFill>
              </a:rPr>
              <a:t>Suite du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7861F-EC60-4046-B71D-0461E97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7F111-C741-424F-9DEE-4E7479B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Synchronisation MITRE automatisée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AECC0-E9CD-4BA9-A01C-69AD28C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2C694-972C-434A-BB17-942B127E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Synchronisation incrémentale 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5321A-0669-4712-A4F1-8ECC817D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0CBEB-E7C1-4045-8E54-AB65974F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Authentification et exposition distante maîtrisée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075E2-80E7-4D7F-90CA-704416CF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A875"/>
                </a:solidFill>
              </a:defRPr>
            </a:pPr>
            <a:r>
              <a:rPr sz="1650" b="1">
                <a:solidFill>
                  <a:srgbClr val="13A87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25A12-0546-4987-927D-A926F4F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7111F"/>
                </a:solidFill>
              </a:defRPr>
            </a:pPr>
            <a:r>
              <a:rPr sz="1500">
                <a:solidFill>
                  <a:srgbClr val="07111F"/>
                </a:solidFill>
              </a:rPr>
              <a:t>CI/CD, couverture et observabilité avancée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1C5C1-6257-40D8-9BA7-7E1DAC2E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02AEE-D0D9-46D0-8B19-BEE25D05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71"/>
                </a:solidFill>
              </a:defRPr>
            </a:pPr>
            <a:r>
              <a:rPr sz="825">
                <a:solidFill>
                  <a:srgbClr val="526071"/>
                </a:solidFill>
              </a:rPr>
              <a:t>PFE · Développement d'un serveur MCP de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211341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30621-531E-45BE-ACA3-13C822B1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0878B6"/>
                </a:solidFill>
              </a:defRPr>
            </a:pPr>
            <a:r>
              <a:rPr sz="1200" b="1" spc="1">
                <a:solidFill>
                  <a:srgbClr val="0878B6"/>
                </a:solidFill>
              </a:rPr>
              <a:t>THREATINTELMCP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F6870-27B6-4FCD-A5B3-13F36EE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7111F"/>
                </a:solidFill>
              </a:defRPr>
            </a:pPr>
            <a:r>
              <a:rPr sz="4650" b="1">
                <a:solidFill>
                  <a:srgbClr val="07111F"/>
                </a:solidFill>
              </a:rPr>
              <a:t>Une intelligence exploitable, pas seulement collectée.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5D20C-5448-4C8C-99C9-BD161F86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878B6"/>
                </a:solidFill>
              </a:defRPr>
            </a:pPr>
            <a:r>
              <a:rPr sz="2025">
                <a:solidFill>
                  <a:srgbClr val="0878B6"/>
                </a:solidFill>
              </a:rPr>
              <a:t>Collecter · Comprendre · Corréler · Expliquer · Agir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5FDE3-395B-4F19-B8B1-21AC743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071"/>
                </a:solidFill>
              </a:defRPr>
            </a:pPr>
            <a:r>
              <a:rPr sz="1650" b="1">
                <a:solidFill>
                  <a:srgbClr val="526071"/>
                </a:solidFill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663192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2026-08-24T21:16:58.9140000Z</dcterms:created>
  <dcterms:modified xsi:type="dcterms:W3CDTF">2026-08-24T21:16:58.9150000Z</dcterms:modified>
</coreProperties>
</file>